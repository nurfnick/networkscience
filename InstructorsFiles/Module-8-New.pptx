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66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301" r:id="rId13"/>
    <p:sldId id="302" r:id="rId14"/>
    <p:sldId id="300" r:id="rId15"/>
    <p:sldId id="298" r:id="rId16"/>
    <p:sldId id="316" r:id="rId17"/>
    <p:sldId id="299" r:id="rId18"/>
    <p:sldId id="303" r:id="rId19"/>
    <p:sldId id="304" r:id="rId20"/>
    <p:sldId id="305" r:id="rId21"/>
    <p:sldId id="306" r:id="rId22"/>
    <p:sldId id="309" r:id="rId23"/>
    <p:sldId id="307" r:id="rId24"/>
    <p:sldId id="308" r:id="rId25"/>
    <p:sldId id="310" r:id="rId26"/>
    <p:sldId id="311" r:id="rId27"/>
    <p:sldId id="312" r:id="rId28"/>
    <p:sldId id="313" r:id="rId29"/>
    <p:sldId id="314" r:id="rId30"/>
    <p:sldId id="315" r:id="rId31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63" autoAdjust="0"/>
    <p:restoredTop sz="91713"/>
  </p:normalViewPr>
  <p:slideViewPr>
    <p:cSldViewPr snapToGrid="0" snapToObjects="1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EAD326-88AF-F345-A9DB-E113A52CC0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9EED80-37B2-8647-9D2A-915A9E9794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17A7A1F-408B-D24F-88DB-A186621A0BB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8CDA27-BF8D-5240-84C8-EA34F4A730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711EB-3620-7F4B-8535-7A8DC30BA6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D36D913-5DCB-D74A-8D1B-DEA391440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723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6DEF25F-49E6-1C41-BECD-A0E22E3DC5B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18A7776-33C0-BB4E-B53D-2DA30EBFA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42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A7776-33C0-BB4E-B53D-2DA30EBFA5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88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944D7-B01C-004E-9D9A-4CD3F422C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246FC-42B9-4E42-8453-8AFF362B4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94132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FA35-101E-9744-A6E8-0A9CC034D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" y="91122"/>
            <a:ext cx="10515600" cy="589915"/>
          </a:xfrm>
        </p:spPr>
        <p:txBody>
          <a:bodyPr>
            <a:normAutofit/>
          </a:bodyPr>
          <a:lstStyle>
            <a:lvl1pPr>
              <a:defRPr sz="3200" b="1"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1DAA8-4B8A-6A4E-9EA8-43CB125FE2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7480" y="840105"/>
            <a:ext cx="10515600" cy="4351338"/>
          </a:xfrm>
        </p:spPr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  <a:lvl2pPr>
              <a:buFont typeface="Courier New" panose="02070309020205020404" pitchFamily="49" charset="0"/>
              <a:buChar char="o"/>
              <a:defRPr>
                <a:latin typeface="Garamond" panose="02020404030301010803" pitchFamily="18" charset="0"/>
              </a:defRPr>
            </a:lvl2pPr>
            <a:lvl3pPr>
              <a:buFont typeface="Wingdings" panose="05000000000000000000" pitchFamily="2" charset="2"/>
              <a:buChar char="§"/>
              <a:defRPr>
                <a:latin typeface="Garamond" panose="02020404030301010803" pitchFamily="18" charset="0"/>
              </a:defRPr>
            </a:lvl3pPr>
            <a:lvl4pPr>
              <a:buFont typeface="Wingdings" panose="05000000000000000000" pitchFamily="2" charset="2"/>
              <a:buChar char="ü"/>
              <a:defRPr>
                <a:latin typeface="Garamond" panose="02020404030301010803" pitchFamily="18" charset="0"/>
              </a:defRPr>
            </a:lvl4pPr>
            <a:lvl5pPr>
              <a:buFont typeface="Wingdings" panose="05000000000000000000" pitchFamily="2" charset="2"/>
              <a:buChar char="Ø"/>
              <a:defRPr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032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53C94-9241-F24E-AD52-B22E28DFB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4DCC7-F4E5-3141-84F7-28B36662D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2194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C1D29-91E3-AD46-A98A-8F1B97C55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34FB9-A1BD-CF46-BAA1-8978C948E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73C93-D73D-0240-885D-417BFF7EE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4419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1AFC6-46ED-E74E-A5C6-D1796A02C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F6808-EEE2-E04D-BD4B-E0FA5FFD4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7A9C7-6FFE-794C-88BE-A0F387E71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C2ADF-4683-624B-B9D6-7184DC3AD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95553-3099-644B-82D0-BE3CB1B6B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5884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18999-85AB-3240-8FA7-F4053293D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" y="0"/>
            <a:ext cx="4953000" cy="76263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1464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02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E2E6F-3313-9546-8B7A-836D1BEDC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FE1D4-DDAC-3743-A37C-8DD93E990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5B9B9-65E0-5E4F-9CA0-859E017DD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0639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56370-F6BB-3B46-93CE-9E0F66460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8DB857-4D01-5942-9616-AB079E9B3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0B640-3C77-A54C-B3F8-8E9710F58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83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84D91-A37B-AF47-AF63-DF4F64F3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A3EA8-F4EC-564C-A3B8-50EAB7FD1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7351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25EB13-9AB2-214E-B3BA-49E10F2CAE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1CF0C-19F3-B04B-B799-D59FCCCC2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5866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79B670-2C23-694D-BF9E-D21179277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FAFE7-4F5A-B241-9393-4C9B419EB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3" descr="blue-paper-cardstock-texture.jpeg">
            <a:extLst>
              <a:ext uri="{FF2B5EF4-FFF2-40B4-BE49-F238E27FC236}">
                <a16:creationId xmlns:a16="http://schemas.microsoft.com/office/drawing/2014/main" id="{C9A0D22E-04F3-1A43-A344-EA7D4ED2539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84" y="6396039"/>
            <a:ext cx="12238568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F76DB566-51A8-3F43-AFC0-A3734ACE0A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934" y="6497638"/>
            <a:ext cx="31939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dirty="0">
                <a:solidFill>
                  <a:srgbClr val="FFFFFF"/>
                </a:solidFill>
                <a:latin typeface="Helvetica Neue Light" panose="02000403000000020004" pitchFamily="2" charset="0"/>
              </a:rPr>
              <a:t>Network Science – Module 8 - Radhakrishnan</a:t>
            </a:r>
          </a:p>
        </p:txBody>
      </p:sp>
    </p:spTree>
    <p:extLst>
      <p:ext uri="{BB962C8B-B14F-4D97-AF65-F5344CB8AC3E}">
        <p14:creationId xmlns:p14="http://schemas.microsoft.com/office/powerpoint/2010/main" val="1551854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41713-7C93-4C43-8119-41CF2AC01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157" y="317903"/>
            <a:ext cx="10447564" cy="23469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latin typeface="Garamond" panose="02020404030301010803" pitchFamily="18" charset="0"/>
              </a:rPr>
              <a:t>CS 5483: Network Science</a:t>
            </a:r>
            <a:br>
              <a:rPr lang="en-US" sz="4000" dirty="0">
                <a:latin typeface="Garamond" panose="02020404030301010803" pitchFamily="18" charset="0"/>
              </a:rPr>
            </a:br>
            <a:endParaRPr lang="en-US" sz="4000" dirty="0">
              <a:latin typeface="Garamond" panose="020204040303010108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76ADF-14B0-0F48-AB37-48269E1B9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2939" y="2195982"/>
            <a:ext cx="9144000" cy="16557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Garamond" panose="02020404030301010803" pitchFamily="18" charset="0"/>
              </a:rPr>
              <a:t>Sridhar Radhakrishnan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Garamond" panose="02020404030301010803" pitchFamily="18" charset="0"/>
              </a:rPr>
              <a:t>School of Computer Science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Garamond" panose="02020404030301010803" pitchFamily="18" charset="0"/>
              </a:rPr>
              <a:t>University of Oklahoma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824D3E-7EC2-E14E-ADEF-99C007288306}"/>
              </a:ext>
            </a:extLst>
          </p:cNvPr>
          <p:cNvSpPr txBox="1"/>
          <p:nvPr/>
        </p:nvSpPr>
        <p:spPr>
          <a:xfrm>
            <a:off x="1162939" y="4383876"/>
            <a:ext cx="10089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aramond" panose="02020404030301010803" pitchFamily="18" charset="0"/>
              </a:rPr>
              <a:t>Module 8: Fundamentals of Network Theory: The Structure of Real-World Networks</a:t>
            </a:r>
          </a:p>
        </p:txBody>
      </p:sp>
    </p:spTree>
    <p:extLst>
      <p:ext uri="{BB962C8B-B14F-4D97-AF65-F5344CB8AC3E}">
        <p14:creationId xmlns:p14="http://schemas.microsoft.com/office/powerpoint/2010/main" val="83851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1F381-3709-F94A-82D6-694994507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Real-World Networks and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53D40-99B6-C746-8C60-3AD15CE2C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8.1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2D144C-5865-0D46-B85F-0C2BED506B44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" pitchFamily="2" charset="0"/>
              </a:rPr>
              <a:t> 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D944DA-ED83-C140-9AB0-C864D925585F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" pitchFamily="2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197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802BA-5262-481A-A3EF-D24DD6A61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Study Random Graphs?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0ECA5-071D-480F-9BC3-2A2007A64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79" y="840105"/>
            <a:ext cx="11401797" cy="5295834"/>
          </a:xfrm>
        </p:spPr>
        <p:txBody>
          <a:bodyPr>
            <a:normAutofit/>
          </a:bodyPr>
          <a:lstStyle/>
          <a:p>
            <a:r>
              <a:rPr lang="en-US" dirty="0"/>
              <a:t>So far:</a:t>
            </a:r>
          </a:p>
          <a:p>
            <a:pPr lvl="1"/>
            <a:r>
              <a:rPr lang="en-US" dirty="0"/>
              <a:t>We have investigated methods to construct networks</a:t>
            </a:r>
          </a:p>
          <a:p>
            <a:pPr lvl="1"/>
            <a:r>
              <a:rPr lang="en-US" dirty="0"/>
              <a:t>Defined metrics to measure the structure of the networks</a:t>
            </a:r>
          </a:p>
          <a:p>
            <a:pPr lvl="2"/>
            <a:r>
              <a:rPr lang="en-US" dirty="0"/>
              <a:t>Metrics: centrality, diameter, degree distribution, components, average path lengths, etc.</a:t>
            </a:r>
          </a:p>
          <a:p>
            <a:pPr lvl="1"/>
            <a:r>
              <a:rPr lang="en-US" dirty="0"/>
              <a:t>Developed algorithms for the measurement</a:t>
            </a:r>
          </a:p>
          <a:p>
            <a:r>
              <a:rPr lang="en-US" dirty="0"/>
              <a:t>Next Question:</a:t>
            </a:r>
          </a:p>
          <a:p>
            <a:pPr lvl="1"/>
            <a:r>
              <a:rPr lang="en-US" dirty="0"/>
              <a:t>If we know a network has some particular property, such as a particular degree distribution, its diameter, or the centrality of its nodes, then</a:t>
            </a:r>
          </a:p>
          <a:p>
            <a:pPr lvl="2"/>
            <a:r>
              <a:rPr lang="en-US" dirty="0"/>
              <a:t>What effect will that have on the broader behavior of the system?</a:t>
            </a:r>
          </a:p>
          <a:p>
            <a:pPr lvl="1"/>
            <a:r>
              <a:rPr lang="en-US" dirty="0"/>
              <a:t>Answer:</a:t>
            </a:r>
          </a:p>
          <a:p>
            <a:pPr lvl="2"/>
            <a:r>
              <a:rPr lang="en-US" dirty="0"/>
              <a:t>To answer the above question, we need to build mathematical models with the known measures.</a:t>
            </a:r>
          </a:p>
        </p:txBody>
      </p:sp>
    </p:spTree>
    <p:extLst>
      <p:ext uri="{BB962C8B-B14F-4D97-AF65-F5344CB8AC3E}">
        <p14:creationId xmlns:p14="http://schemas.microsoft.com/office/powerpoint/2010/main" val="42918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C4476-4EC2-4806-B4BE-A8A767FAB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Study Random Networks?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C0E09-F321-49CE-9936-65B307179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840104"/>
            <a:ext cx="10007246" cy="54661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 need to build networks that mimic the patterns of connections in networks.</a:t>
            </a:r>
          </a:p>
          <a:p>
            <a:r>
              <a:rPr lang="en-US" dirty="0"/>
              <a:t>These models allow us to create artificial networks with known parameters, with two major uses:</a:t>
            </a:r>
          </a:p>
          <a:p>
            <a:pPr lvl="1"/>
            <a:r>
              <a:rPr lang="en-US" dirty="0"/>
              <a:t>It will give us insight into fundamental questions of the structure – Why networks look the way they do and how they change with changing parameters</a:t>
            </a:r>
          </a:p>
          <a:p>
            <a:pPr lvl="1"/>
            <a:r>
              <a:rPr lang="en-US" dirty="0"/>
              <a:t>They provide a foundation on which to build an understanding of processes taking place on networks, such as diseases spreading on social networks or search engines searching the web.</a:t>
            </a:r>
          </a:p>
          <a:p>
            <a:r>
              <a:rPr lang="en-US" dirty="0"/>
              <a:t>Previously we studied the structure of scale-free networks (the ones that follow power-law)</a:t>
            </a:r>
          </a:p>
          <a:p>
            <a:r>
              <a:rPr lang="en-US" dirty="0"/>
              <a:t>Now we can build scale-free and non-scale-free networks and compare them empirically (and find statistical significance)</a:t>
            </a:r>
          </a:p>
          <a:p>
            <a:pPr lvl="1"/>
            <a:r>
              <a:rPr lang="en-US" dirty="0"/>
              <a:t>We can build many networks satisfying the properties at random and measure each.</a:t>
            </a:r>
          </a:p>
          <a:p>
            <a:pPr lvl="1"/>
            <a:r>
              <a:rPr lang="en-US" dirty="0"/>
              <a:t>That is we need not search for real-world data to measure many properties and statistically show the significances.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316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BF83-83A3-4A8B-AB90-6C09C3D2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Graphs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29961-DAF4-4A38-BB7A-B7A0EF3A7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8.1</a:t>
            </a:r>
          </a:p>
        </p:txBody>
      </p:sp>
    </p:spTree>
    <p:extLst>
      <p:ext uri="{BB962C8B-B14F-4D97-AF65-F5344CB8AC3E}">
        <p14:creationId xmlns:p14="http://schemas.microsoft.com/office/powerpoint/2010/main" val="1841440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42EF-C576-4276-85D3-6F8013CF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91C94A-5C80-4183-AFE3-BF6154B825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479" y="840105"/>
                <a:ext cx="11754945" cy="534628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 </a:t>
                </a:r>
                <a:r>
                  <a:rPr lang="en-US" i="1" dirty="0"/>
                  <a:t>random graph</a:t>
                </a:r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edges represented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constructed by connecting at random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pairs of nodes.</a:t>
                </a:r>
              </a:p>
              <a:p>
                <a:r>
                  <a:rPr lang="en-US" dirty="0"/>
                  <a:t>The maximum number of edges (connected pairs of nodes) in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 graph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Now the number of graphs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edges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 set of all graphs with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called an </a:t>
                </a:r>
                <a:r>
                  <a:rPr lang="en-US" i="1" dirty="0"/>
                  <a:t>ensemble</a:t>
                </a:r>
                <a:r>
                  <a:rPr lang="en-US" dirty="0"/>
                  <a:t> of networks.</a:t>
                </a:r>
              </a:p>
              <a:p>
                <a:pPr lvl="1"/>
                <a:r>
                  <a:rPr lang="en-US" dirty="0"/>
                  <a:t>The probability that we can get a particular network with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When one talks about the properties of random graphs one typically means the average properties of the ensemble.</a:t>
                </a:r>
              </a:p>
              <a:p>
                <a:pPr lvl="1"/>
                <a:r>
                  <a:rPr lang="en-US" dirty="0"/>
                  <a:t>For example, the diameter of a random graph normally means the diameter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an individual network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averaged over the probability 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is: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91C94A-5C80-4183-AFE3-BF6154B825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479" y="840105"/>
                <a:ext cx="11754945" cy="5346284"/>
              </a:xfrm>
              <a:blipFill>
                <a:blip r:embed="rId3"/>
                <a:stretch>
                  <a:fillRect l="-864" t="-2370" r="-432" b="-28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46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DC77-EF98-4695-AAA2-3BD73F67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Graphs – A new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61F629-4B29-43FC-9793-7F82981859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479" y="681038"/>
                <a:ext cx="11698189" cy="578282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We can empirically determine many graphs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edges,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each 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in the ensemble of all graphs.</a:t>
                </a:r>
              </a:p>
              <a:p>
                <a:pPr lvl="1"/>
                <a:r>
                  <a:rPr lang="en-US" dirty="0"/>
                  <a:t>Then we can calculate average values such as diameter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For the random graph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 average degree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This is because the sum of all degree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Other properties such finding the average diameter without enumerating the graphs is difficult.</a:t>
                </a:r>
              </a:p>
              <a:p>
                <a:r>
                  <a:rPr lang="en-US" dirty="0"/>
                  <a:t>The new random model generated a network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and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the probability that any two nodes are connected by an edge.</a:t>
                </a:r>
              </a:p>
              <a:p>
                <a:pPr lvl="1"/>
                <a:r>
                  <a:rPr lang="en-US" dirty="0"/>
                  <a:t>For example,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then the graph is a complete graph</a:t>
                </a:r>
              </a:p>
              <a:p>
                <a:pPr>
                  <a:lnSpc>
                    <a:spcPct val="170000"/>
                  </a:lnSpc>
                </a:pPr>
                <a:r>
                  <a:rPr lang="en-US" dirty="0"/>
                  <a:t>Now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an ensemble of simple networks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edges appears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above model is called:</a:t>
                </a:r>
              </a:p>
              <a:p>
                <a:pPr lvl="1"/>
                <a:r>
                  <a:rPr lang="en-US" dirty="0" err="1"/>
                  <a:t>Erdős-Rényi</a:t>
                </a:r>
                <a:r>
                  <a:rPr lang="en-US" dirty="0"/>
                  <a:t> Random Graph</a:t>
                </a:r>
              </a:p>
              <a:p>
                <a:pPr lvl="1"/>
                <a:r>
                  <a:rPr lang="en-US" dirty="0"/>
                  <a:t>Poisson Random Graph</a:t>
                </a:r>
              </a:p>
              <a:p>
                <a:pPr lvl="1"/>
                <a:r>
                  <a:rPr lang="en-US" dirty="0"/>
                  <a:t>Bernoulli Random Graph</a:t>
                </a:r>
              </a:p>
              <a:p>
                <a:pPr lvl="1"/>
                <a:r>
                  <a:rPr lang="en-US" dirty="0"/>
                  <a:t>The Random Graph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61F629-4B29-43FC-9793-7F82981859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479" y="681038"/>
                <a:ext cx="11698189" cy="5782824"/>
              </a:xfrm>
              <a:blipFill>
                <a:blip r:embed="rId4"/>
                <a:stretch>
                  <a:fillRect l="-625" t="-2110" b="-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3416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F5B33-7BA5-4C05-A906-20868861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Network with </a:t>
            </a:r>
            <a:r>
              <a:rPr lang="en-US" dirty="0" err="1"/>
              <a:t>NetworkX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1C9A5-FB16-4213-9755-D375C4392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840106"/>
            <a:ext cx="5390565" cy="1214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UG = </a:t>
            </a:r>
            <a:r>
              <a:rPr lang="en-US" sz="2000" dirty="0" err="1">
                <a:latin typeface="+mn-lt"/>
              </a:rPr>
              <a:t>nx.fast_</a:t>
            </a:r>
            <a:r>
              <a:rPr lang="en-US" sz="2000" dirty="0" err="1">
                <a:solidFill>
                  <a:srgbClr val="FF0000"/>
                </a:solidFill>
                <a:latin typeface="+mn-lt"/>
              </a:rPr>
              <a:t>gnp</a:t>
            </a:r>
            <a:r>
              <a:rPr lang="en-US" sz="2000" dirty="0" err="1">
                <a:latin typeface="+mn-lt"/>
              </a:rPr>
              <a:t>_random_graph</a:t>
            </a:r>
            <a:r>
              <a:rPr lang="en-US" sz="2000" dirty="0">
                <a:latin typeface="+mn-lt"/>
              </a:rPr>
              <a:t>(15,0.1)</a:t>
            </a:r>
          </a:p>
          <a:p>
            <a:pPr marL="0" indent="0">
              <a:buNone/>
            </a:pPr>
            <a:r>
              <a:rPr lang="en-US" sz="2000" dirty="0" err="1">
                <a:latin typeface="+mn-lt"/>
              </a:rPr>
              <a:t>nx.draw</a:t>
            </a:r>
            <a:r>
              <a:rPr lang="en-US" sz="2000" dirty="0">
                <a:latin typeface="+mn-lt"/>
              </a:rPr>
              <a:t>(</a:t>
            </a:r>
            <a:r>
              <a:rPr lang="en-US" sz="2000" dirty="0" err="1">
                <a:latin typeface="+mn-lt"/>
              </a:rPr>
              <a:t>UG,with_labels</a:t>
            </a:r>
            <a:r>
              <a:rPr lang="en-US" sz="2000" dirty="0">
                <a:latin typeface="+mn-lt"/>
              </a:rPr>
              <a:t>=True)</a:t>
            </a:r>
          </a:p>
          <a:p>
            <a:pPr marL="0" indent="0">
              <a:buNone/>
            </a:pPr>
            <a:r>
              <a:rPr lang="en-US" sz="2000" dirty="0" err="1">
                <a:latin typeface="+mn-lt"/>
              </a:rPr>
              <a:t>UG.size</a:t>
            </a:r>
            <a:r>
              <a:rPr lang="en-US" sz="2000" dirty="0">
                <a:latin typeface="+mn-lt"/>
              </a:rPr>
              <a:t>() %% 11 edges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112802-BB68-2640-A910-AA60954AB0CF}"/>
              </a:ext>
            </a:extLst>
          </p:cNvPr>
          <p:cNvSpPr txBox="1">
            <a:spLocks/>
          </p:cNvSpPr>
          <p:nvPr/>
        </p:nvSpPr>
        <p:spPr>
          <a:xfrm>
            <a:off x="6643955" y="681037"/>
            <a:ext cx="5390565" cy="1214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+mn-lt"/>
              </a:rPr>
              <a:t>UGNM = </a:t>
            </a:r>
            <a:r>
              <a:rPr lang="en-US" sz="2000" dirty="0" err="1">
                <a:latin typeface="+mn-lt"/>
              </a:rPr>
              <a:t>nx.</a:t>
            </a:r>
            <a:r>
              <a:rPr lang="en-US" sz="2000" dirty="0" err="1">
                <a:solidFill>
                  <a:srgbClr val="FF0000"/>
                </a:solidFill>
                <a:latin typeface="+mn-lt"/>
              </a:rPr>
              <a:t>gnm</a:t>
            </a:r>
            <a:r>
              <a:rPr lang="en-US" sz="2000" dirty="0" err="1">
                <a:latin typeface="+mn-lt"/>
              </a:rPr>
              <a:t>_random_graph</a:t>
            </a:r>
            <a:r>
              <a:rPr lang="en-US" sz="2000" dirty="0">
                <a:latin typeface="+mn-lt"/>
              </a:rPr>
              <a:t> (15,11)</a:t>
            </a:r>
          </a:p>
          <a:p>
            <a:pPr marL="0" indent="0">
              <a:buNone/>
            </a:pPr>
            <a:r>
              <a:rPr lang="en-US" sz="2000" dirty="0" err="1">
                <a:latin typeface="+mn-lt"/>
              </a:rPr>
              <a:t>nx.draw</a:t>
            </a:r>
            <a:r>
              <a:rPr lang="en-US" sz="2000" dirty="0">
                <a:latin typeface="+mn-lt"/>
              </a:rPr>
              <a:t> (</a:t>
            </a:r>
            <a:r>
              <a:rPr lang="en-US" sz="2000" dirty="0" err="1">
                <a:latin typeface="+mn-lt"/>
              </a:rPr>
              <a:t>UGNM,with_labels</a:t>
            </a:r>
            <a:r>
              <a:rPr lang="en-US" sz="2000" dirty="0">
                <a:latin typeface="+mn-lt"/>
              </a:rPr>
              <a:t>=True)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73D84B-72A7-AF4F-877D-D6CDDAAAC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1" y="2321960"/>
            <a:ext cx="5458234" cy="3695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B04A157-6598-AC4A-8CCA-0F71BDB54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137" y="2054832"/>
            <a:ext cx="5664200" cy="383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A04E8D-5165-924C-BD3C-47B5CE2783A7}"/>
              </a:ext>
            </a:extLst>
          </p:cNvPr>
          <p:cNvCxnSpPr/>
          <p:nvPr/>
        </p:nvCxnSpPr>
        <p:spPr>
          <a:xfrm>
            <a:off x="5938463" y="681037"/>
            <a:ext cx="0" cy="5658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13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BF83-83A3-4A8B-AB90-6C09C3D2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Properties of Random Graphs: </a:t>
            </a:r>
            <a:r>
              <a:rPr lang="en-US" sz="2700" dirty="0"/>
              <a:t>Models, Mean Degree, Degree Distribution, and Giant Component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29961-DAF4-4A38-BB7A-B7A0EF3A7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8.2</a:t>
            </a:r>
          </a:p>
        </p:txBody>
      </p:sp>
    </p:spTree>
    <p:extLst>
      <p:ext uri="{BB962C8B-B14F-4D97-AF65-F5344CB8AC3E}">
        <p14:creationId xmlns:p14="http://schemas.microsoft.com/office/powerpoint/2010/main" val="1696471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Mean Number of Edges and Mean Degree: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model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49" t="-15464" b="-29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479" y="840104"/>
                <a:ext cx="11458553" cy="5302141"/>
              </a:xfrm>
            </p:spPr>
            <p:txBody>
              <a:bodyPr/>
              <a:lstStyle/>
              <a:p>
                <a:r>
                  <a:rPr lang="en-US" dirty="0"/>
                  <a:t>The probability of edge between two nodes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total number of edges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Now, the average number of edges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maximum degree of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 graph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average degree of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edge graph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The average degree is: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(usual symbol)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479" y="840104"/>
                <a:ext cx="11458553" cy="5302141"/>
              </a:xfrm>
              <a:blipFill>
                <a:blip r:embed="rId3"/>
                <a:stretch>
                  <a:fillRect l="-957" t="-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0041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Degree Distribution: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model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449" t="-15464" b="-29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869" y="908094"/>
                <a:ext cx="11960771" cy="517739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Each node in the network is connected to another node with a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rgbClr val="FF0000"/>
                    </a:solidFill>
                  </a:rPr>
                  <a:t>probability that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is connected to a specified or particular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other nodes </a:t>
                </a:r>
                <a:r>
                  <a:rPr lang="en-US" dirty="0"/>
                  <a:t>(among the possible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hence the degree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, denoted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 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Note that the </a:t>
                </a:r>
                <a:r>
                  <a:rPr lang="en-US" dirty="0">
                    <a:solidFill>
                      <a:srgbClr val="FF0000"/>
                    </a:solidFill>
                  </a:rPr>
                  <a:t>particular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other nodes </a:t>
                </a:r>
                <a:r>
                  <a:rPr lang="en-US" dirty="0"/>
                  <a:t>can be chosen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ways.</a:t>
                </a:r>
              </a:p>
              <a:p>
                <a:r>
                  <a:rPr lang="en-US" dirty="0"/>
                  <a:t>Now the total probability of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connected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other nodes is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is a binomial distribution and hence one can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has a binomial distribution.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869" y="908094"/>
                <a:ext cx="11960771" cy="5177396"/>
              </a:xfrm>
              <a:blipFill>
                <a:blip r:embed="rId4"/>
                <a:stretch>
                  <a:fillRect l="-917" t="-2120" b="-1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165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Degree Distribution: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model – Sparse Networks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49" t="-15464" b="-29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869" y="908094"/>
                <a:ext cx="11822843" cy="517739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network is considered sparse if only a tiny fraction of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possible edges </a:t>
                </a:r>
              </a:p>
              <a:p>
                <a:r>
                  <a:rPr lang="en-US" dirty="0"/>
                  <a:t>A sparse network is one in which the average degree increases slower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becomes large.</a:t>
                </a:r>
              </a:p>
              <a:p>
                <a:r>
                  <a:rPr lang="en-US" dirty="0"/>
                  <a:t>From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we can get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den>
                    </m:f>
                  </m:oMath>
                </a14:m>
                <a:r>
                  <a:rPr lang="en-US" dirty="0"/>
                  <a:t>, clearly indicating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decreases (The probability of an edge and hence being sparse) </a:t>
                </a:r>
              </a:p>
              <a:p>
                <a:r>
                  <a:rPr lang="en-US" dirty="0"/>
                  <a:t>From total probability of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connected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other nodes is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will show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model is a Poisson degree distributions.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869" y="908094"/>
                <a:ext cx="11822843" cy="5177396"/>
              </a:xfrm>
              <a:blipFill>
                <a:blip r:embed="rId3"/>
                <a:stretch>
                  <a:fillRect l="-928" t="-1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4833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Degree Distribution: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model – Sparse Networks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49" t="-15464" b="-29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869" y="908093"/>
                <a:ext cx="11822843" cy="5797507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From total probability of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connected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other nodes is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will show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model is a Poisson degree distributions.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after applying the </a:t>
                </a:r>
              </a:p>
              <a:p>
                <a:pPr marL="0" indent="0">
                  <a:buNone/>
                </a:pPr>
                <a:r>
                  <a:rPr lang="en-US" dirty="0"/>
                  <a:t>						</a:t>
                </a:r>
                <a:r>
                  <a:rPr lang="en-US" sz="1600" dirty="0"/>
                  <a:t>Taylor series for the natural logarithm</a:t>
                </a:r>
              </a:p>
              <a:p>
                <a:pPr marL="0" indent="0">
                  <a:buNone/>
                </a:pPr>
                <a:r>
                  <a:rPr lang="en-US" dirty="0"/>
                  <a:t>	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sz="1400" dirty="0"/>
                  <a:t>(after taking exponentials on both sides – Euler’s Constant e=2.71828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dirty="0"/>
                  <a:t>,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dirty="0"/>
                  <a:t> [</a:t>
                </a:r>
                <a:r>
                  <a:rPr lang="en-US" dirty="0">
                    <a:solidFill>
                      <a:srgbClr val="FF0000"/>
                    </a:solidFill>
                  </a:rPr>
                  <a:t>Poisson Degree Distribution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sz="1400" dirty="0"/>
                  <a:t>	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869" y="908093"/>
                <a:ext cx="11822843" cy="5797507"/>
              </a:xfrm>
              <a:blipFill>
                <a:blip r:embed="rId3"/>
                <a:stretch>
                  <a:fillRect l="-751" t="-2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395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F6D051DC-0AE9-46FE-AFE0-D1FC54BD265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6360" y="91122"/>
                <a:ext cx="10515600" cy="58991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Degree Distribution: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model</a:t>
                </a:r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F6D051DC-0AE9-46FE-AFE0-D1FC54BD26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6360" y="91122"/>
                <a:ext cx="10515600" cy="589915"/>
              </a:xfrm>
              <a:blipFill>
                <a:blip r:embed="rId2"/>
                <a:stretch>
                  <a:fillRect l="-1449" t="-15464" b="-29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5F9FBC8-AC20-42A1-BDFF-1FFE972BC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79" y="837266"/>
            <a:ext cx="4626898" cy="24696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E67B11-C354-4A98-8CD0-1AF82DE97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064" y="681037"/>
            <a:ext cx="3725050" cy="23092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C57333-DF65-403D-8479-7321CBD47FB2}"/>
              </a:ext>
            </a:extLst>
          </p:cNvPr>
          <p:cNvSpPr txBox="1"/>
          <p:nvPr/>
        </p:nvSpPr>
        <p:spPr>
          <a:xfrm>
            <a:off x="356416" y="3360130"/>
            <a:ext cx="36182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https://www.statisticshowto.com/negative-binomial-experiment/</a:t>
            </a:r>
          </a:p>
        </p:txBody>
      </p:sp>
      <p:pic>
        <p:nvPicPr>
          <p:cNvPr id="1026" name="Picture 2" descr="Statistics 101 — Binomial and Poisson Distribution | by Sisi Chen | Medium">
            <a:extLst>
              <a:ext uri="{FF2B5EF4-FFF2-40B4-BE49-F238E27FC236}">
                <a16:creationId xmlns:a16="http://schemas.microsoft.com/office/drawing/2014/main" id="{5CE1852B-C184-491F-B820-291AC842F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093" y="2999348"/>
            <a:ext cx="3795520" cy="324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404CC5-7836-469C-B8A3-3FDE1C760EFB}"/>
              </a:ext>
            </a:extLst>
          </p:cNvPr>
          <p:cNvSpPr txBox="1"/>
          <p:nvPr/>
        </p:nvSpPr>
        <p:spPr>
          <a:xfrm>
            <a:off x="4515696" y="6178834"/>
            <a:ext cx="55483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https://medium.com/@cssamanda1989/statistics-101-binomial-and-poisson-distribution-af4f3cf3e774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99E756-B1B0-42DA-9B00-A06C0B11E301}"/>
                  </a:ext>
                </a:extLst>
              </p:cNvPr>
              <p:cNvSpPr txBox="1"/>
              <p:nvPr/>
            </p:nvSpPr>
            <p:spPr>
              <a:xfrm>
                <a:off x="358959" y="3659609"/>
                <a:ext cx="3168624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99E756-B1B0-42DA-9B00-A06C0B11E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59" y="3659609"/>
                <a:ext cx="3168624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230289-9D35-4184-9951-ECD7B9333C7B}"/>
                  </a:ext>
                </a:extLst>
              </p:cNvPr>
              <p:cNvSpPr txBox="1"/>
              <p:nvPr/>
            </p:nvSpPr>
            <p:spPr>
              <a:xfrm>
                <a:off x="9765102" y="4415905"/>
                <a:ext cx="1407629" cy="6538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sup>
                      </m:sSup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230289-9D35-4184-9951-ECD7B9333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102" y="4415905"/>
                <a:ext cx="1407629" cy="6538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8947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Clustering Coefficient: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model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49" t="-15464" b="-29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479" y="840104"/>
                <a:ext cx="11458553" cy="5302141"/>
              </a:xfrm>
            </p:spPr>
            <p:txBody>
              <a:bodyPr/>
              <a:lstStyle/>
              <a:p>
                <a:r>
                  <a:rPr lang="en-US" dirty="0"/>
                  <a:t>Clustering coefficient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a measure of the transitivity in a network and is defined as the probability that two neighbors of a node are also neighbors of each other.</a:t>
                </a:r>
              </a:p>
              <a:p>
                <a:r>
                  <a:rPr lang="en-US" dirty="0"/>
                  <a:t>In a random network the probability that </a:t>
                </a:r>
                <a:r>
                  <a:rPr lang="en-US" i="1" dirty="0"/>
                  <a:t>any</a:t>
                </a:r>
                <a:r>
                  <a:rPr lang="en-US" dirty="0"/>
                  <a:t> two nodes are neighbors is exactly the same – all such probabilities are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/>
                  <a:t>, and hence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is the average degree of a node in the network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479" y="840104"/>
                <a:ext cx="11458553" cy="5302141"/>
              </a:xfrm>
              <a:blipFill>
                <a:blip r:embed="rId3"/>
                <a:stretch>
                  <a:fillRect l="-957" t="-2069" r="-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992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BF83-83A3-4A8B-AB90-6C09C3D2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Properties of Random Graphs: </a:t>
            </a:r>
            <a:br>
              <a:rPr lang="en-US" dirty="0"/>
            </a:br>
            <a:r>
              <a:rPr lang="en-US" sz="2700" dirty="0"/>
              <a:t>Giant Component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29961-DAF4-4A38-BB7A-B7A0EF3A7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8.3</a:t>
            </a:r>
          </a:p>
        </p:txBody>
      </p:sp>
    </p:spTree>
    <p:extLst>
      <p:ext uri="{BB962C8B-B14F-4D97-AF65-F5344CB8AC3E}">
        <p14:creationId xmlns:p14="http://schemas.microsoft.com/office/powerpoint/2010/main" val="2482899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Giant Component: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model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49" t="-15464" b="-29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479" y="840104"/>
                <a:ext cx="11458553" cy="254933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In a random graph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we get a complete graph, the size of the largest component in dependent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the largest sized of the component is 1 and independent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 A network component (connected component) whose size grows in proportion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called a </a:t>
                </a:r>
                <a:r>
                  <a:rPr lang="en-US" i="1" dirty="0"/>
                  <a:t>giant component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When we keep increasing the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, the size of the largest connected component undergoes a sudden change, or </a:t>
                </a:r>
                <a:r>
                  <a:rPr lang="en-US" i="1" dirty="0"/>
                  <a:t>phase transition.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479" y="840104"/>
                <a:ext cx="11458553" cy="2549331"/>
              </a:xfrm>
              <a:blipFill>
                <a:blip r:embed="rId3"/>
                <a:stretch>
                  <a:fillRect l="-851" t="-5981" r="-1436" b="-1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CCE070B1-B6E8-4200-8462-2B8CE97FE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05" y="3389435"/>
            <a:ext cx="3000004" cy="300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0173C7-0384-4387-BC3B-897C21FC6A06}"/>
              </a:ext>
            </a:extLst>
          </p:cNvPr>
          <p:cNvSpPr txBox="1"/>
          <p:nvPr/>
        </p:nvSpPr>
        <p:spPr>
          <a:xfrm>
            <a:off x="45008" y="6200499"/>
            <a:ext cx="40543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aramond" panose="02020404030301010803" pitchFamily="18" charset="0"/>
              </a:rPr>
              <a:t>https://networkx.org/documentation/networkx-1.10/_images/giant_component.png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190604-D532-4293-BAFF-73E0DA7F142C}"/>
              </a:ext>
            </a:extLst>
          </p:cNvPr>
          <p:cNvSpPr txBox="1"/>
          <p:nvPr/>
        </p:nvSpPr>
        <p:spPr>
          <a:xfrm>
            <a:off x="4499116" y="6143721"/>
            <a:ext cx="41088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aramond" panose="02020404030301010803" pitchFamily="18" charset="0"/>
              </a:rPr>
              <a:t>https://jeremykun.com/2015/02/02/the-giant-component-and-explosive-percolation/</a:t>
            </a:r>
          </a:p>
        </p:txBody>
      </p:sp>
      <p:pic>
        <p:nvPicPr>
          <p:cNvPr id="2054" name="Picture 6" descr="The Erdős-Rényi Random Graph – Math ∩ Programming">
            <a:extLst>
              <a:ext uri="{FF2B5EF4-FFF2-40B4-BE49-F238E27FC236}">
                <a16:creationId xmlns:a16="http://schemas.microsoft.com/office/drawing/2014/main" id="{DEE28288-803D-4823-A5CE-4090C07D3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945" y="3196000"/>
            <a:ext cx="3930295" cy="294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91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Giant Component: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model – Determining the Size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48" t="-14894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479" y="840104"/>
                <a:ext cx="10260517" cy="582782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be the average fraction of nodes in the random graph that </a:t>
                </a:r>
                <a:r>
                  <a:rPr lang="en-US" b="1" dirty="0"/>
                  <a:t>do not</a:t>
                </a:r>
                <a:r>
                  <a:rPr lang="en-US" dirty="0"/>
                  <a:t> belong to the giant component.</a:t>
                </a:r>
              </a:p>
              <a:p>
                <a:r>
                  <a:rPr lang="en-US" dirty="0"/>
                  <a:t>That is,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is the probability that a randomly chosen node that </a:t>
                </a:r>
                <a:r>
                  <a:rPr lang="en-US" b="1" dirty="0"/>
                  <a:t>does not </a:t>
                </a:r>
                <a:r>
                  <a:rPr lang="en-US" dirty="0"/>
                  <a:t>belong to the giant component.</a:t>
                </a:r>
              </a:p>
              <a:p>
                <a:r>
                  <a:rPr lang="en-US" dirty="0"/>
                  <a:t>Consider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that </a:t>
                </a:r>
                <a:r>
                  <a:rPr lang="en-US" b="1" dirty="0"/>
                  <a:t>does not </a:t>
                </a:r>
                <a:r>
                  <a:rPr lang="en-US" dirty="0"/>
                  <a:t>belong to the giant component.</a:t>
                </a:r>
              </a:p>
              <a:p>
                <a:pPr lvl="1"/>
                <a:r>
                  <a:rPr lang="en-US" dirty="0"/>
                  <a:t>This implies that there is no path to a node that is in the giant component</a:t>
                </a:r>
              </a:p>
              <a:p>
                <a:pPr lvl="1"/>
                <a:r>
                  <a:rPr lang="en-US" dirty="0"/>
                  <a:t>Now for every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does not</a:t>
                </a:r>
                <a:r>
                  <a:rPr lang="en-US" dirty="0"/>
                  <a:t> have an edge to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– This occurs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has an </a:t>
                </a:r>
                <a:r>
                  <a:rPr lang="en-US" dirty="0"/>
                  <a:t>edge to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, and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is not </a:t>
                </a:r>
                <a:r>
                  <a:rPr lang="en-US" dirty="0"/>
                  <a:t>in the giant component – This occurs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𝑝𝑢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The total probability for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not connected to a giant component via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𝑝𝑢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Now the total probability of a randomly chosen node not connected the giant component via any of the other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nodes (all possible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’s) is: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479" y="840104"/>
                <a:ext cx="10260517" cy="5827824"/>
              </a:xfrm>
              <a:blipFill>
                <a:blip r:embed="rId3"/>
                <a:stretch>
                  <a:fillRect l="-1112" t="-1739" r="-1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829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Giant Component: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model – Determining the Size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847F58-550D-4777-85A4-24653487CC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48" t="-14894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479" y="614076"/>
                <a:ext cx="9829669" cy="579700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Now the total probability of a randomly chosen node not connected the giant component via any of the other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nodes is: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dirty="0"/>
                  <a:t>, we get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−1)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dirty="0"/>
                  <a:t>For large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we have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is the fraction of nodes NOT in the giant component, then, the fraction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of nodes in the giant component is given by: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𝑐𝑆</m:t>
                        </m:r>
                      </m:sup>
                    </m:sSup>
                  </m:oMath>
                </a14:m>
                <a:r>
                  <a:rPr lang="en-US" dirty="0"/>
                  <a:t>; This equation was derived by </a:t>
                </a:r>
                <a:r>
                  <a:rPr lang="en-US" dirty="0" err="1"/>
                  <a:t>Erdős-Rényi</a:t>
                </a:r>
                <a:r>
                  <a:rPr lang="en-US" dirty="0"/>
                  <a:t> in 1959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8F54D-3397-4C99-B2DA-4D8D27519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479" y="614076"/>
                <a:ext cx="9829669" cy="5797002"/>
              </a:xfrm>
              <a:blipFill>
                <a:blip r:embed="rId3"/>
                <a:stretch>
                  <a:fillRect l="-1161" t="-1751" r="-903" b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93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80D57D1-4CBD-4DAB-AF0A-EAD35956829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Giant Component: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model - – Determining the Size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80D57D1-4CBD-4DAB-AF0A-EAD3595682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48" t="-14894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625B46-3A0D-433D-AFB7-D0946E3497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480" y="840105"/>
                <a:ext cx="11658468" cy="4351338"/>
              </a:xfrm>
            </p:spPr>
            <p:txBody>
              <a:bodyPr/>
              <a:lstStyle/>
              <a:p>
                <a:r>
                  <a:rPr lang="en-US" dirty="0"/>
                  <a:t>Three Curves:</a:t>
                </a:r>
              </a:p>
              <a:p>
                <a:pPr lvl="1"/>
                <a:r>
                  <a:rPr lang="en-US" dirty="0"/>
                  <a:t>The dotted line shows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(fraction of nodes that belong to the giant component</a:t>
                </a:r>
              </a:p>
              <a:p>
                <a:pPr lvl="1"/>
                <a:r>
                  <a:rPr lang="en-US" dirty="0"/>
                  <a:t>Three curves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=1.5, 1.0, 0.5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The intersection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lang="en-US" dirty="0"/>
                  <a:t> and dotted line, 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=0.583</m:t>
                    </m:r>
                  </m:oMath>
                </a14:m>
                <a:r>
                  <a:rPr lang="en-US" dirty="0"/>
                  <a:t>; which is a solution;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is also a solution</a:t>
                </a:r>
              </a:p>
              <a:p>
                <a:pPr lvl="1"/>
                <a:r>
                  <a:rPr lang="en-US" dirty="0"/>
                  <a:t>You also see that after we increase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and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the size of the giant component suddenly increases.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625B46-3A0D-433D-AFB7-D0946E3497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480" y="840105"/>
                <a:ext cx="11658468" cy="4351338"/>
              </a:xfrm>
              <a:blipFill>
                <a:blip r:embed="rId3"/>
                <a:stretch>
                  <a:fillRect l="-941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3C555B7-F5FC-4D69-A04B-2A525A29B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65" y="3843088"/>
            <a:ext cx="5186362" cy="250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64F7-86F0-49A4-A38A-E7EF79B0E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Giant Components?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362309-DB8C-42E8-A12F-770780C04F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480" y="840105"/>
                <a:ext cx="11733678" cy="542610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We saw that a random graph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 (average degree is greater than 1) there exists a giant component whose size grow in proportion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and which fills an extensive fraction of the network (less than 100%)</a:t>
                </a:r>
              </a:p>
              <a:p>
                <a:r>
                  <a:rPr lang="en-US" dirty="0"/>
                  <a:t>The structure of the reminder of the networks are the </a:t>
                </a:r>
                <a:r>
                  <a:rPr lang="en-US" i="1" dirty="0"/>
                  <a:t>small components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We show that there is only one giant component in a random graph, and hence that all other components are “non-giant” components (</a:t>
                </a:r>
                <a:r>
                  <a:rPr lang="en-US" b="1" dirty="0"/>
                  <a:t>Proof by contradiction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Take any two giant components, which have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the fraction</a:t>
                </a:r>
              </a:p>
              <a:p>
                <a:pPr lvl="1"/>
                <a:r>
                  <a:rPr lang="en-US" dirty="0"/>
                  <a:t>The number of distinct pairs of vertices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in the first giant component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is in the second, is 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 probability of this not connected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be the probability that there are no edges between pairs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 described above.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tends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This establishes that the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of the components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connected, informing us that it is nearly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and </a:t>
                </a:r>
                <a:r>
                  <a:rPr lang="en-US" b="1" dirty="0"/>
                  <a:t>hence there is only one giant component.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362309-DB8C-42E8-A12F-770780C04F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480" y="840105"/>
                <a:ext cx="11733678" cy="5426108"/>
              </a:xfrm>
              <a:blipFill>
                <a:blip r:embed="rId2"/>
                <a:stretch>
                  <a:fillRect l="-865" t="-1869" r="-432" b="-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540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BF83-83A3-4A8B-AB90-6C09C3D2B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30" y="1551791"/>
            <a:ext cx="11277600" cy="2852737"/>
          </a:xfrm>
        </p:spPr>
        <p:txBody>
          <a:bodyPr/>
          <a:lstStyle/>
          <a:p>
            <a:r>
              <a:rPr lang="en-US" dirty="0"/>
              <a:t>Properties of Random Graphs:</a:t>
            </a:r>
            <a:br>
              <a:rPr lang="en-US" dirty="0"/>
            </a:br>
            <a:r>
              <a:rPr lang="en-US" sz="2400" dirty="0"/>
              <a:t>Small Components and Small-World Effect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29961-DAF4-4A38-BB7A-B7A0EF3A7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8.4</a:t>
            </a:r>
          </a:p>
        </p:txBody>
      </p:sp>
    </p:spTree>
    <p:extLst>
      <p:ext uri="{BB962C8B-B14F-4D97-AF65-F5344CB8AC3E}">
        <p14:creationId xmlns:p14="http://schemas.microsoft.com/office/powerpoint/2010/main" val="3118131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FD6AFD-6B51-4514-BAFF-0745B1C79AD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Small Components: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model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FD6AFD-6B51-4514-BAFF-0745B1C79A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48" t="-14894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D0D61F-6CD5-4674-B23E-3A3A3C758D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480" y="840104"/>
                <a:ext cx="10515600" cy="545381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Since there is only one giant component as seen before, all the other nodes not connected to the giant component belong to small components.</a:t>
                </a:r>
              </a:p>
              <a:p>
                <a:r>
                  <a:rPr lang="en-US" dirty="0"/>
                  <a:t>Recall a tree is a connected component that does not contain an cycles.</a:t>
                </a:r>
              </a:p>
              <a:p>
                <a:r>
                  <a:rPr lang="en-US" dirty="0"/>
                  <a:t>A connected component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when it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edges is a tree. This is a least amount of edges to keep nodes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connected.</a:t>
                </a:r>
              </a:p>
              <a:p>
                <a:r>
                  <a:rPr lang="en-US" dirty="0"/>
                  <a:t>Given a tree with nodes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the total number of missing edges or edges that can be added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is the set of all edges between nodes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den>
                    </m:f>
                  </m:oMath>
                </a14:m>
                <a:r>
                  <a:rPr lang="en-US" dirty="0"/>
                  <a:t> being the probability of an edge, the average number of edges in the component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−1)(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−2)</m:t>
                    </m:r>
                    <m: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−1)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, the average number of edges goes to 0, indicating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does not contain any cycles.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D0D61F-6CD5-4674-B23E-3A3A3C758D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480" y="840104"/>
                <a:ext cx="10515600" cy="5453817"/>
              </a:xfrm>
              <a:blipFill>
                <a:blip r:embed="rId3"/>
                <a:stretch>
                  <a:fillRect l="-928" t="-2237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2410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7AF80B-6AF2-4FBB-850C-571ABD779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226" y="497819"/>
            <a:ext cx="4643538" cy="1932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51E6DF-BBED-4619-B69D-1212217CF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Components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D84D57-E313-4DEF-A0C5-8155778CCD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9565" y="744187"/>
                <a:ext cx="7466478" cy="2082140"/>
              </a:xfrm>
            </p:spPr>
            <p:txBody>
              <a:bodyPr>
                <a:normAutofit fontScale="85000" lnSpcReduction="10000"/>
              </a:bodyPr>
              <a:lstStyle/>
              <a:p>
                <a:pPr marL="514350" indent="-514350">
                  <a:buAutoNum type="alphaLcParenBoth"/>
                </a:pPr>
                <a:r>
                  <a:rPr lang="en-US" dirty="0"/>
                  <a:t>The size of the component to which a vertex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belongs is the sum of the number of vertices in each of the subcomponents (shaded regions) reachable via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’s neighbors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plus one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itself. </a:t>
                </a:r>
              </a:p>
              <a:p>
                <a:pPr marL="514350" indent="-514350">
                  <a:buAutoNum type="alphaLcParenBoth"/>
                </a:pPr>
                <a:r>
                  <a:rPr lang="en-US" dirty="0"/>
                  <a:t>If vertex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removed the subcomponents become components in their own right.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D84D57-E313-4DEF-A0C5-8155778CCD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9565" y="744187"/>
                <a:ext cx="7466478" cy="2082140"/>
              </a:xfrm>
              <a:blipFill>
                <a:blip r:embed="rId3"/>
                <a:stretch>
                  <a:fillRect l="-1144" t="-5263" b="-2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4FFB9E-E371-4C57-A8DF-E229B1BBB645}"/>
                  </a:ext>
                </a:extLst>
              </p:cNvPr>
              <p:cNvSpPr txBox="1"/>
              <p:nvPr/>
            </p:nvSpPr>
            <p:spPr>
              <a:xfrm>
                <a:off x="288966" y="3146958"/>
                <a:ext cx="10768894" cy="3108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Garamond" panose="02020404030301010803" pitchFamily="18" charset="0"/>
                  </a:rPr>
                  <a:t>The size of the component to which 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Garamond" panose="02020404030301010803" pitchFamily="18" charset="0"/>
                  </a:rPr>
                  <a:t> belongs is the sum of the sizes of the of the subnetworks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>
                    <a:latin typeface="Garamond" panose="02020404030301010803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Garamond" panose="02020404030301010803" pitchFamily="18" charset="0"/>
                  </a:rPr>
                  <a:t> is the degree of 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Garamond" panose="02020404030301010803" pitchFamily="18" charset="0"/>
                  </a:rPr>
                  <a:t> reachable along each of its edges, plus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Garamond" panose="02020404030301010803" pitchFamily="18" charset="0"/>
                  </a:rPr>
                  <a:t> for 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Garamond" panose="02020404030301010803" pitchFamily="18" charset="0"/>
                  </a:rPr>
                  <a:t> itself.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Garamond" panose="02020404030301010803" pitchFamily="18" charset="0"/>
                  </a:rPr>
                  <a:t>Now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=1+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nary>
                  </m:oMath>
                </a14:m>
                <a:endParaRPr lang="en-US" sz="24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4FFB9E-E371-4C57-A8DF-E229B1BBB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66" y="3146958"/>
                <a:ext cx="10768894" cy="3108960"/>
              </a:xfrm>
              <a:prstGeom prst="rect">
                <a:avLst/>
              </a:prstGeom>
              <a:blipFill>
                <a:blip r:embed="rId4"/>
                <a:stretch>
                  <a:fillRect l="-707" t="-1626" r="-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673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9778-04D0-5D4C-B7A9-84CD2274E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Components: Average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E3B918-3A0B-7445-925B-6A32D54888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7753" y="637371"/>
                <a:ext cx="11719447" cy="6051105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=1+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nary>
                  </m:oMath>
                </a14:m>
                <a:r>
                  <a:rPr lang="en-US" dirty="0"/>
                  <a:t> 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is the size of the component to which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aseline="30000" dirty="0" err="1"/>
                  <a:t>th</a:t>
                </a:r>
                <a:r>
                  <a:rPr lang="en-US" dirty="0"/>
                  <a:t> neighbor of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belongs to.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The average size of a small component of degree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=1+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the average size of the component to which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aseline="30000" dirty="0" err="1"/>
                  <a:t>th</a:t>
                </a:r>
                <a:r>
                  <a:rPr lang="en-US" dirty="0"/>
                  <a:t> neighbor of a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belongs to.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Since in a random graph all neighbors of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are indistinguishable we have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E3B918-3A0B-7445-925B-6A32D54888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7753" y="637371"/>
                <a:ext cx="11719447" cy="6051105"/>
              </a:xfrm>
              <a:blipFill>
                <a:blip r:embed="rId2"/>
                <a:stretch>
                  <a:fillRect l="-974" t="-9224" r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2312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0000-9D21-A646-817C-91F4231B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Component: Average Degree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11B6E-53EE-9445-A015-962CC34168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479" y="840105"/>
                <a:ext cx="11811913" cy="551959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Now taking into account nodes of all degrees in the small component, we have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𝑠𝑚𝑎𝑙𝑙</m:t>
                        </m:r>
                      </m:sub>
                    </m:sSub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𝑠𝑚𝑎𝑙𝑙</m:t>
                        </m:r>
                      </m:sub>
                    </m:sSub>
                  </m:oMath>
                </a14:m>
                <a:r>
                  <a:rPr lang="en-US" dirty="0"/>
                  <a:t> is the average degree of a node in a small component.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For large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the statistics for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are the same, hence we have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𝑠𝑚𝑎𝑙𝑙</m:t>
                          </m:r>
                        </m:sub>
                      </m:sSub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𝑠𝑚𝑎𝑙𝑙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. Why? Note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the fraction of nodes that belong to the giant component.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11B6E-53EE-9445-A015-962CC34168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479" y="840105"/>
                <a:ext cx="11811913" cy="5519598"/>
              </a:xfrm>
              <a:blipFill>
                <a:blip r:embed="rId2"/>
                <a:stretch>
                  <a:fillRect l="-967" r="-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753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B49D-EAB9-1B4E-ACA4-DAF5E881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Components: Average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6B6BF-F344-2A47-A9CC-5536D8CF10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480" y="840104"/>
                <a:ext cx="10515600" cy="530384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𝑠𝑚𝑎𝑙𝑙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dirty="0"/>
                  <a:t>,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𝑠𝑚𝑎𝑙𝑙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Substituting this in the equation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=1+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𝑠𝑚𝑎𝑙𝑙</m:t>
                        </m:r>
                      </m:sub>
                    </m:sSub>
                    <m:d>
                      <m:dPr>
                        <m:begChr m:val="⟨"/>
                        <m:endChr m:val="⟩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, we get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=1+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or</a:t>
                </a:r>
              </a:p>
              <a:p>
                <a:pPr marL="0" indent="0" algn="ctr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𝑐𝑆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The above is the equation for component to which a random chosen node in a random graph belongs to.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6B6BF-F344-2A47-A9CC-5536D8CF10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480" y="840104"/>
                <a:ext cx="10515600" cy="5303841"/>
              </a:xfrm>
              <a:blipFill>
                <a:blip r:embed="rId2"/>
                <a:stretch>
                  <a:fillRect l="-1086" t="-1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7272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3DE8E-3A8C-4C45-BE5C-F2E39119C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68DC84-F8ED-CE47-AEF9-6EF28DADCB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480" y="840104"/>
                <a:ext cx="11626978" cy="542713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Growing the giant component:</a:t>
                </a:r>
              </a:p>
              <a:p>
                <a:pPr lvl="1"/>
                <a:r>
                  <a:rPr lang="en-US" dirty="0"/>
                  <a:t>Find a small connected component</a:t>
                </a:r>
              </a:p>
              <a:p>
                <a:pPr lvl="1"/>
                <a:r>
                  <a:rPr lang="en-US" dirty="0"/>
                  <a:t>Divide the set into </a:t>
                </a:r>
                <a:r>
                  <a:rPr lang="en-US" i="1" dirty="0"/>
                  <a:t>core</a:t>
                </a:r>
                <a:r>
                  <a:rPr lang="en-US" dirty="0"/>
                  <a:t> and </a:t>
                </a:r>
                <a:r>
                  <a:rPr lang="en-US" i="1" dirty="0"/>
                  <a:t>periphery</a:t>
                </a:r>
              </a:p>
              <a:p>
                <a:pPr lvl="1"/>
                <a:r>
                  <a:rPr lang="en-US" dirty="0"/>
                  <a:t>Periphery are the nodes that have at least one neighbor outside the set and the core is the set of nodes that have connections only withing the set.</a:t>
                </a:r>
              </a:p>
              <a:p>
                <a:pPr lvl="1"/>
                <a:r>
                  <a:rPr lang="en-US" dirty="0"/>
                  <a:t>Now imagine that we increase the size of the set and modify the core and periphery as follows:</a:t>
                </a:r>
              </a:p>
              <a:p>
                <a:pPr lvl="2"/>
                <a:r>
                  <a:rPr lang="en-US" dirty="0"/>
                  <a:t>The neighbors of periphery becomes the periphery and the neighbors of core are now absorbed into the core.</a:t>
                </a:r>
              </a:p>
              <a:p>
                <a:r>
                  <a:rPr lang="en-US" dirty="0"/>
                  <a:t>How big is the new periphery? If 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nodes in the set, then 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nodes outside of the set.</a:t>
                </a:r>
              </a:p>
              <a:p>
                <a:r>
                  <a:rPr lang="en-US" dirty="0"/>
                  <a:t>The average number of connections that each node in the periphery has to the nodes outside the set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means that the average number of immediate neighbors of the set-the expected size of the new periphery when we grow the set –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times the size of old periphery.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68DC84-F8ED-CE47-AEF9-6EF28DADCB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480" y="840104"/>
                <a:ext cx="11626978" cy="5427131"/>
              </a:xfrm>
              <a:blipFill>
                <a:blip r:embed="rId2"/>
                <a:stretch>
                  <a:fillRect l="-873" t="-2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59EC64D-6AD3-6745-B341-85F3A9E38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980" y="98406"/>
            <a:ext cx="3953626" cy="179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73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1D55A-22D5-0140-B3F7-4C1DFCD13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World: Diameter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4E58BE-9631-4C41-B967-7BF3F8452B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480" y="840105"/>
                <a:ext cx="12034520" cy="522164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Diameter is the longest shortest path.</a:t>
                </a:r>
              </a:p>
              <a:p>
                <a:r>
                  <a:rPr lang="en-US" dirty="0"/>
                  <a:t>Now imagine that we grow the component (giant) from a single node.</a:t>
                </a:r>
              </a:p>
              <a:p>
                <a:r>
                  <a:rPr lang="en-US" dirty="0"/>
                  <a:t>From the derivation above after the first grow will have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nodes in the giant component.</a:t>
                </a:r>
              </a:p>
              <a:p>
                <a:r>
                  <a:rPr lang="en-US" dirty="0"/>
                  <a:t>After two grows, we will have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nodes in the giant component.</a:t>
                </a:r>
              </a:p>
              <a:p>
                <a:r>
                  <a:rPr lang="en-US" dirty="0"/>
                  <a:t>After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grows we will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dirty="0"/>
                  <a:t> nodes in the giant component.</a:t>
                </a:r>
              </a:p>
              <a:p>
                <a:r>
                  <a:rPr lang="en-US" dirty="0"/>
                  <a:t>We will continue this until there is no more growth of the giant component and assume it stops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that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⋍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the number of nodes in the network.</a:t>
                </a:r>
              </a:p>
              <a:p>
                <a:r>
                  <a:rPr lang="en-US" dirty="0"/>
                  <a:t>Now the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is the diameter of the network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dirty="0"/>
                  <a:t>; </a:t>
                </a:r>
              </a:p>
              <a:p>
                <a:r>
                  <a:rPr lang="en-US" dirty="0"/>
                  <a:t>Using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dirty="0"/>
                  <a:t> and c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, we get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</m:sSup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func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=3.28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4E58BE-9631-4C41-B967-7BF3F8452B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480" y="840105"/>
                <a:ext cx="12034520" cy="5221648"/>
              </a:xfrm>
              <a:blipFill>
                <a:blip r:embed="rId2"/>
                <a:stretch>
                  <a:fillRect l="-843" t="-1942" r="-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839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247A0-FC7F-1845-8D4E-313D0A445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From Real World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5AD410-F914-D842-B6CD-997BF1FB5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609600"/>
            <a:ext cx="103124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26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41605</TotalTime>
  <Words>2927</Words>
  <Application>Microsoft Office PowerPoint</Application>
  <PresentationFormat>Widescreen</PresentationFormat>
  <Paragraphs>223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Calibri</vt:lpstr>
      <vt:lpstr>Cambria Math</vt:lpstr>
      <vt:lpstr>Courier New</vt:lpstr>
      <vt:lpstr>Garamond</vt:lpstr>
      <vt:lpstr>Helvetica Neue Light</vt:lpstr>
      <vt:lpstr>Times</vt:lpstr>
      <vt:lpstr>Wingdings</vt:lpstr>
      <vt:lpstr>Office Theme</vt:lpstr>
      <vt:lpstr>CS 5483: Network Science </vt:lpstr>
      <vt:lpstr>Real-World Networks and Features</vt:lpstr>
      <vt:lpstr>Why Study Random Graphs?</vt:lpstr>
      <vt:lpstr>Why Study Random Networks?</vt:lpstr>
      <vt:lpstr>Random Graphs</vt:lpstr>
      <vt:lpstr>Random Graphs</vt:lpstr>
      <vt:lpstr>Random Graphs – A new Model</vt:lpstr>
      <vt:lpstr>Random Network with NetworkX</vt:lpstr>
      <vt:lpstr>Properties of Random Graphs: Models, Mean Degree, Degree Distribution, and Giant Component</vt:lpstr>
      <vt:lpstr>Mean Number of Edges and Mean Degree: G(n,p) model</vt:lpstr>
      <vt:lpstr>Degree Distribution: G(n,p) model</vt:lpstr>
      <vt:lpstr>Degree Distribution: G(n,p) model – Sparse Networks</vt:lpstr>
      <vt:lpstr>Degree Distribution: G(n,p) model – Sparse Networks</vt:lpstr>
      <vt:lpstr>Degree Distribution: G(n,p) model</vt:lpstr>
      <vt:lpstr>Clustering Coefficient: G(n,p) model</vt:lpstr>
      <vt:lpstr>Properties of Random Graphs:  Giant Component</vt:lpstr>
      <vt:lpstr>Giant Component: G(n,p) model</vt:lpstr>
      <vt:lpstr>Giant Component: G(n,p) model – Determining the Size</vt:lpstr>
      <vt:lpstr>Giant Component: G(n,p) model – Determining the Size</vt:lpstr>
      <vt:lpstr>Giant Component: G(n,p) model - – Determining the Size</vt:lpstr>
      <vt:lpstr>How many Giant Components?</vt:lpstr>
      <vt:lpstr>Properties of Random Graphs: Small Components and Small-World Effect</vt:lpstr>
      <vt:lpstr>Small Components: G(n,p) model </vt:lpstr>
      <vt:lpstr>Small Components</vt:lpstr>
      <vt:lpstr>Small Components: Average Size</vt:lpstr>
      <vt:lpstr>Small Component: Average Degree</vt:lpstr>
      <vt:lpstr>Small Components: Average Size</vt:lpstr>
      <vt:lpstr>Small World</vt:lpstr>
      <vt:lpstr>Small World: Diameter</vt:lpstr>
      <vt:lpstr>Information From Real World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5483: Network Science Lecture-1</dc:title>
  <dc:creator>Radhakrishnan, Sridhar</dc:creator>
  <cp:lastModifiedBy>Jacob, Nicholas C</cp:lastModifiedBy>
  <cp:revision>411</cp:revision>
  <cp:lastPrinted>2025-11-12T16:45:04Z</cp:lastPrinted>
  <dcterms:created xsi:type="dcterms:W3CDTF">2019-08-19T19:19:18Z</dcterms:created>
  <dcterms:modified xsi:type="dcterms:W3CDTF">2025-11-12T16:46:18Z</dcterms:modified>
</cp:coreProperties>
</file>